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2.xml" ContentType="application/vnd.openxmlformats-officedocument.drawingml.chart+xml"/>
  <Override PartName="/ppt/notesSlides/notesSlide29.xml" ContentType="application/vnd.openxmlformats-officedocument.presentationml.notesSlide+xml"/>
  <Override PartName="/ppt/charts/chart3.xml" ContentType="application/vnd.openxmlformats-officedocument.drawingml.chart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A3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99-804E-8524-804C905F2F68}"/>
              </c:ext>
            </c:extLst>
          </c:dPt>
          <c:dPt>
            <c:idx val="1"/>
            <c:bubble3D val="0"/>
            <c:spPr>
              <a:solidFill>
                <a:srgbClr val="1621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99-804E-8524-804C905F2F68}"/>
              </c:ext>
            </c:extLst>
          </c:dPt>
          <c:dPt>
            <c:idx val="2"/>
            <c:bubble3D val="0"/>
            <c:spPr>
              <a:solidFill>
                <a:srgbClr val="F7B3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99-804E-8524-804C905F2F68}"/>
              </c:ext>
            </c:extLst>
          </c:dPt>
          <c:dPt>
            <c:idx val="3"/>
            <c:bubble3D val="0"/>
            <c:spPr>
              <a:solidFill>
                <a:srgbClr val="EE6C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99-804E-8524-804C905F2F6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99-804E-8524-804C905F2F6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99-804E-8524-804C905F2F6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99-804E-8524-804C905F2F6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399-804E-8524-804C905F2F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Tugas, praktikum, kuis</c:v>
                </c:pt>
                <c:pt idx="1">
                  <c:v>UTS</c:v>
                </c:pt>
                <c:pt idx="2">
                  <c:v>Proyek akhir</c:v>
                </c:pt>
                <c:pt idx="3">
                  <c:v>UAS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99-804E-8524-804C905F2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ID" sz="1100" b="0" i="0" u="none" strike="noStrike">
                <a:solidFill>
                  <a:srgbClr val="1F2937"/>
                </a:solidFill>
                <a:latin typeface="Arial"/>
              </a:rPr>
              <a:t>Jumlah pesanan per kategori (pivot)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Pesanan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Fashion</c:v>
                </c:pt>
                <c:pt idx="1">
                  <c:v>Elektronik</c:v>
                </c:pt>
                <c:pt idx="2">
                  <c:v>Kecantikan</c:v>
                </c:pt>
                <c:pt idx="3">
                  <c:v>Rumah tangga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412</c:v>
                </c:pt>
                <c:pt idx="1">
                  <c:v>188</c:v>
                </c:pt>
                <c:pt idx="2">
                  <c:v>265</c:v>
                </c:pt>
                <c:pt idx="3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0-CA44-9376-FABC7C60B0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Ketepatan klasifikasi</c:v>
                </c:pt>
                <c:pt idx="1">
                  <c:v>Masalah kualitas data</c:v>
                </c:pt>
                <c:pt idx="2">
                  <c:v>Identifikasi data pribadi</c:v>
                </c:pt>
                <c:pt idx="3">
                  <c:v>Pertanyaan bisnis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9C-9D41-9A66-3BCFF2A7C8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894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hart" Target="../charts/chart1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4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2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38.png"/><Relationship Id="rId4" Type="http://schemas.openxmlformats.org/officeDocument/2006/relationships/image" Target="../media/image83.png"/><Relationship Id="rId9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6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17.png"/><Relationship Id="rId4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0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34.png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3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 · BUSINESS STATISTICS AND DATA VISUALIZATION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dalam Bisnis Digital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375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statistika, jenis data, sumber data digital, serta etika dan pelindungan data pribadi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434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Sub-CPMK-1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4434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4434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A3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06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Dosen Pengampu] · Prodi S1 Bisnis Digital</a:t>
            </a:r>
            <a:endParaRPr lang="en-US" sz="1300" dirty="0"/>
          </a:p>
        </p:txBody>
      </p:sp>
      <p:pic>
        <p:nvPicPr>
          <p:cNvPr id="13" name="Image 0" descr="/home/claude/ppt/img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960120"/>
            <a:ext cx="4846320" cy="41513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4947B97-3B9F-CD94-DA48-448EEC16D8D6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703C90-82E5-8527-F4D3-90F2E2ABA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4216"/>
            <a:ext cx="2078736" cy="635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pertemuan: 100 menit kelas + 170 menit lab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TEORI · 100 MENIT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157984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07592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13" y="268102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246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kuliah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61488" y="1783080"/>
            <a:ext cx="2157984" cy="502920"/>
          </a:xfrm>
          <a:prstGeom prst="rect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61488" y="1783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520440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26810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07208" y="3246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statistika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974336" y="1783080"/>
            <a:ext cx="2711196" cy="5029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74336" y="1783080"/>
            <a:ext cx="2711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009894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315" y="26810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20056" y="3246120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data &amp; skala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740396" y="1783080"/>
            <a:ext cx="1604772" cy="502920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740396" y="1783080"/>
            <a:ext cx="160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222742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163" y="268102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786116" y="3246120"/>
            <a:ext cx="1513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digital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400032" y="1783080"/>
            <a:ext cx="2157984" cy="50292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400032" y="1783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10158984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5405" y="268102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445752" y="3246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 &amp; UU PDP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2960" y="4434840"/>
            <a:ext cx="822960" cy="8229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930" y="4648810"/>
            <a:ext cx="395021" cy="39502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87452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LAB · 170 MENIT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874520" y="4709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dataset e-commerce di spreadsheet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1874520" y="51663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data, mengenali tipe kolom, memfilter, meringkas dengan pivot table, dan membuat grafik pertama. Ditutup dengan penjelasan Tugas 1.</a:t>
            </a:r>
            <a:endParaRPr lang="en-US" sz="1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12E9ED9-DC8C-17B5-7789-9826032829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ini, mahasiswa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38528"/>
            <a:ext cx="914400" cy="9144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762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peran statistika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3042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pengambilan keputusan bisnis digital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12080" y="192024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0" y="19202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5544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1938528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17627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58952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Mengklasifikasikan data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23042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menurut jenis (kategorik/numerik) dan skala pengukuran (NOIR)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0835640" y="192024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835640" y="19202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4747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858768"/>
            <a:ext cx="914400" cy="9144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09651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96596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sumber data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965960" y="42245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serta menilai kualitasnya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212080" y="38404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0" y="38404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72200" y="34747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46520" y="3858768"/>
            <a:ext cx="914400" cy="9144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096512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58952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prinsip etika data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42245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UU No. 27 Tahun 2022 tentang Pelindungan Data Pribadi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10835640" y="38404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835640" y="38404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65099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4300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tujuan ini mengukur Sub-CPMK-1 (bobot 5% nilai akhir), melalui Tugas 1 dan diskusi kasus.</a:t>
            </a:r>
            <a:endParaRPr lang="en-US" sz="1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08D9B1C-3E9E-DF8E-6EBC-E16F4269E8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KULIAH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main yang kita sepakati bersama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19613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75% untuk mengikuti UAS. Izin sakit dengan surat keterangan.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783080"/>
            <a:ext cx="685800" cy="68580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19613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068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Ketepatan waktu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Toleransi keterlambatan [15] menit; setelahnya dianggap tidak hadir.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78308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19613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8972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tugas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LMS sebelum tenggat. Terlambat: nilai dikurangi [10%] per hari.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7490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" y="42016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Integritas akademik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Plagiarisme dan menyalin pekerjaan teman bernilai nol untuk tugas terkait.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297680" y="37490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023360"/>
            <a:ext cx="685800" cy="6858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308" y="42016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44068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AI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untuk belajar dan memeriksa kode; wajib diungkapkan dan dipahami sendiri.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046720" y="37490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21040" y="402336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9348" y="420166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8972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lewat forum LMS atau grup kelas, hari kerja pukul 08.00–17.00.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dalam [ ] disesuaikan dengan kesepakatan kelas dan peraturan akademik kampus.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B3FF781-3A43-A451-D0DF-DE03C0C779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KULIAH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nilai dihitung dan apa yang perlu disiapkan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35661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39512"/>
            <a:ext cx="201168" cy="2011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166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Tugas, praktikum, kuis  45%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5239512"/>
            <a:ext cx="201168" cy="201168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84448" y="5166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 (minggu 8)  20%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650992"/>
            <a:ext cx="201168" cy="201168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5577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(minggu 15)  20%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91840" y="5650992"/>
            <a:ext cx="201168" cy="2011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84448" y="5577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(minggu 16)  15%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persiapan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035040" y="196596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205740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846" y="2200046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903720" y="20391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pribadi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90372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dibawa setiap sesi praktikum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2176272"/>
            <a:ext cx="310896" cy="31089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035040" y="283464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72200" y="29260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846" y="306872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03720" y="29077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Google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Google Sheets, Colab, dan Looker Studio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3044952"/>
            <a:ext cx="310896" cy="31089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035040" y="370332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172200" y="379476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4846" y="3937406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903720" y="37764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6903720" y="4069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Analysis ToolPak (minggu 3)</a:t>
            </a:r>
            <a:endParaRPr lang="en-US" sz="12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3913632"/>
            <a:ext cx="310896" cy="310896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035040" y="457200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172200" y="466344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4846" y="4806086"/>
            <a:ext cx="263347" cy="263347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903720" y="46451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 utama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6903720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dkk., Statistics for Business and Economics</a:t>
            </a:r>
            <a:endParaRPr lang="en-US" sz="12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4782312"/>
            <a:ext cx="310896" cy="310896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6035040" y="544068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6172200" y="553212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4846" y="5674766"/>
            <a:ext cx="263347" cy="263347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903720" y="5513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Kaggle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6903720" y="5806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dataset untuk latihan dan proyek</a:t>
            </a:r>
            <a:endParaRPr lang="en-US" sz="12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5650992"/>
            <a:ext cx="310896" cy="31089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36B096F-19B3-7DA6-BA8D-C0125DC76C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statistika penting di bisnis digital?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interaksi pelanggan meninggalkan jejak data. Statistika mengubah jejak itu menjadi keputusan.</a:t>
            </a:r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041E2A-0C89-D8BB-7190-BC28825F6460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0D1F6C-44C2-FE18-15FC-AE8787F9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216"/>
            <a:ext cx="2078736" cy="635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transaksi online menghasilkan banyak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Rina membeli sepatu di marketplace, dan data yang tercatat di setiap langkah: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" y="1920240"/>
            <a:ext cx="914400" cy="9144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157984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20240" y="2377440"/>
            <a:ext cx="86868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Melihat iklan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34290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34747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impresi, klik, biaya per klik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825496" y="1920240"/>
            <a:ext cx="914400" cy="91440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157984"/>
            <a:ext cx="438912" cy="438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13048" y="2377440"/>
            <a:ext cx="86868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2441448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Mencari produk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459736" y="34290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551176" y="34747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kunci, filter, waktu di halaman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718304" y="1920240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157984"/>
            <a:ext cx="438912" cy="43891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705856" y="2377440"/>
            <a:ext cx="86868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4334256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Masuk keranjang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352544" y="34290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443984" y="34747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produk, harga, cart abandonment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611112" y="1920240"/>
            <a:ext cx="914400" cy="9144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2157984"/>
            <a:ext cx="438912" cy="43891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598664" y="2377440"/>
            <a:ext cx="86868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6227064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Membayar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245352" y="34290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336792" y="34747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bayar, nilai transaksi, promo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503920" y="1920240"/>
            <a:ext cx="914400" cy="9144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4" y="2157984"/>
            <a:ext cx="438912" cy="43891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491472" y="2377440"/>
            <a:ext cx="86868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8119872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Pengiriman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8138160" y="34290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229600" y="34747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kurir, ongkir, lama kirim, kota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10396728" y="1920240"/>
            <a:ext cx="914400" cy="9144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4472" y="2157984"/>
            <a:ext cx="438912" cy="43891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01268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Memberi ulasan</a:t>
            </a:r>
            <a:endParaRPr lang="en-US" sz="1500" dirty="0"/>
          </a:p>
        </p:txBody>
      </p:sp>
      <p:sp>
        <p:nvSpPr>
          <p:cNvPr id="39" name="Shape 31"/>
          <p:cNvSpPr/>
          <p:nvPr/>
        </p:nvSpPr>
        <p:spPr>
          <a:xfrm>
            <a:off x="10030968" y="34290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10122408" y="34747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1–5, teks ulasan, foto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77240" y="5120640"/>
            <a:ext cx="777240" cy="77724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322" y="5322722"/>
            <a:ext cx="373075" cy="37307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783080" y="5029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bisnis yang bisa dijawab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1783080" y="5349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Iklan mana yang paling efisien? Mengapa 70% keranjang ditinggalkan? Apakah pengiriman lebih cepat menaikkan rating?</a:t>
            </a:r>
            <a:endParaRPr lang="en-US" sz="14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4C7FDEA-3C14-3C98-91BE-96099573E3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CABANG STATISTIKA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Statistika deskriptif dan inferensial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/home/claude/ppt/img/p1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4630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18120" y="169164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Deskriptif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4231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Meringkas data yang dimiliki: rata-rata, persentase, grafik.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971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rating 1.000 responden = 4,2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589520" y="3794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18120" y="4023360"/>
            <a:ext cx="640080" cy="64008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1" y="418978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9536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Inferensial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7818120" y="47548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Menarik kesimpulan tentang populasi dari sampel, dengan tingkat keyakinan.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5303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yakin rata-rata rating semua pelanggan 4,1–4,3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1206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sampel? Mensurvei 2,4 juta pelanggan mahal dan lambat. Sampel acak yang cukup besar memberi gambaran populasi dengan biaya kecil (dibahas di minggu 6).</a:t>
            </a:r>
            <a:endParaRPr lang="en-US" sz="13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EA6D2C-9F90-5894-D991-8B3FEAC99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ANALITIK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tingkat analitik: semakin tinggi, semakin bernilai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97280" y="4251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4389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Deskriptif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Agustus turun 12%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1–3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338328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terjadi?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4297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terbesar di kategori fashion, setelah ongkir naik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7–9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51460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Prediktif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akan terjadi?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Harbolnas diramal naik 35%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10–12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645920"/>
            <a:ext cx="2514600" cy="4343400"/>
          </a:xfrm>
          <a:prstGeom prst="roundRect">
            <a:avLst>
              <a:gd name="adj" fmla="val 2909"/>
            </a:avLst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Preskriptif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harus dilakukan?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stok 30% dan beri gratis ongkir kategori fashion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15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685800" y="1600200"/>
            <a:ext cx="914" cy="438912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6868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bisnis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6172200"/>
            <a:ext cx="1092708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955280" y="6263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kesulitan analisis →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Diadaptasi dari model Analytic Ascendancy (Gartner)</a:t>
            </a:r>
            <a:endParaRPr lang="en-US" sz="11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A47C799-1983-B7B8-B75B-3C6EF738C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DI BALIK LAYAR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sehari-hari yang digerakkan statistika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24328" cy="461772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783080"/>
            <a:ext cx="960120" cy="9601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231" y="20327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8803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produk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10128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"Pembeli ini juga membeli…"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206240"/>
            <a:ext cx="1892808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34340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STATISTIK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61772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Probabilitas bersyarat: P(beli B | beli A)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07592" y="5577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07592" y="5577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4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55848" y="1508760"/>
            <a:ext cx="2624328" cy="461772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78808" y="1783080"/>
            <a:ext cx="960120" cy="96012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2032711"/>
            <a:ext cx="460858" cy="46085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93008" y="28803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dinamis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3584448" y="3310128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tiket &amp; ongkir berubah menurut permintaan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721608" y="4206240"/>
            <a:ext cx="1892808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493008" y="434340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STATISTIK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3584448" y="461772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permintaan terhadap harga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114800" y="5577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14800" y="5577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10–11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163056" y="1508760"/>
            <a:ext cx="2624328" cy="461772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986016" y="1783080"/>
            <a:ext cx="960120" cy="96012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647" y="2032711"/>
            <a:ext cx="460858" cy="46085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300216" y="28803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fraud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6391656" y="3310128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mencurigakan diblokir otomatis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528816" y="4206240"/>
            <a:ext cx="1892808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00216" y="434340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STATISTIK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6391656" y="461772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normal &amp; outlier, teorema Bayes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922008" y="5577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922008" y="5577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4–5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970264" y="1508760"/>
            <a:ext cx="2624328" cy="461772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793224" y="1783080"/>
            <a:ext cx="960120" cy="96012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855" y="2032711"/>
            <a:ext cx="460858" cy="46085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107424" y="28803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700" dirty="0"/>
          </a:p>
        </p:txBody>
      </p:sp>
      <p:sp>
        <p:nvSpPr>
          <p:cNvPr id="39" name="Text 33"/>
          <p:cNvSpPr txBox="1"/>
          <p:nvPr/>
        </p:nvSpPr>
        <p:spPr>
          <a:xfrm>
            <a:off x="9198864" y="3310128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versi halaman diuji ke pengunjung berbeda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9336024" y="4206240"/>
            <a:ext cx="1892808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107424" y="434340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STATISTIK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9198864" y="461772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hipotesis dua proporsi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9729216" y="5577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729216" y="5577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Mgg 7</a:t>
            </a:r>
            <a:endParaRPr lang="en-US" sz="10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39B5C01-FA58-A028-50F9-13A7128C3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 data dan skala pengukuran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data menentukan statistik dan grafik yang boleh dipakai. Salah mengenali jenis data = salah analisis.</a:t>
            </a:r>
            <a:endParaRPr lang="en-US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80735-BB68-E24E-A557-F6A39FDE8190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1A0CA-F444-06A8-2EEC-75C1D0D3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216"/>
            <a:ext cx="2078736" cy="635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Pohon jenis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0" y="1417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490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0760" y="1965960"/>
            <a:ext cx="914" cy="27432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2240280"/>
            <a:ext cx="594360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2240280"/>
            <a:ext cx="914" cy="22860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2240280"/>
            <a:ext cx="914" cy="22860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4688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(kualitatif)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290779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berupa label / kelompok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24688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 (kuantitatif)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90779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berupa angka hasil hitung/ukur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3337560"/>
            <a:ext cx="914" cy="22860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3566160"/>
            <a:ext cx="265176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3566160"/>
            <a:ext cx="914" cy="18288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3566160"/>
            <a:ext cx="914" cy="18288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3337560"/>
            <a:ext cx="914" cy="22860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3566160"/>
            <a:ext cx="2651760" cy="914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3566160"/>
            <a:ext cx="914" cy="18288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566160"/>
            <a:ext cx="914" cy="18288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490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urutan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709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Kategori produk, metode bayar, kota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37490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urutan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4709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Rating ★1–5, ukuran S/M/L, level member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37490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Diskrit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menghitung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4709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Jumlah item dibeli, jumlah klik, jumlah ulasan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0" y="37490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mengukur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4709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Harga, lama kunjungan (detik), berat paket</a:t>
            </a:r>
            <a:endParaRPr lang="en-US" sz="13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BF48AA2-F5BC-0092-BDC1-A9EE6D76A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PENGUKURAN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skala pengukuran (NOIR)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46704" y="1463040"/>
            <a:ext cx="1975104" cy="594360"/>
          </a:xfrm>
          <a:prstGeom prst="roundRect">
            <a:avLst>
              <a:gd name="adj" fmla="val 15385"/>
            </a:avLst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46704" y="1463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31536" y="1463040"/>
            <a:ext cx="1975104" cy="594360"/>
          </a:xfrm>
          <a:prstGeom prst="roundRect">
            <a:avLst>
              <a:gd name="adj" fmla="val 15385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31536" y="1463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16368" y="1463040"/>
            <a:ext cx="1975104" cy="594360"/>
          </a:xfrm>
          <a:prstGeom prst="roundRect">
            <a:avLst>
              <a:gd name="adj" fmla="val 15385"/>
            </a:avLst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16368" y="1463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0" y="1463040"/>
            <a:ext cx="1975104" cy="594360"/>
          </a:xfrm>
          <a:prstGeom prst="roundRect">
            <a:avLst>
              <a:gd name="adj" fmla="val 15385"/>
            </a:avLst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0" y="1463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1106424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194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kategori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7614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urutan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1106424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284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antarnilai sama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953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nol mutlak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322576"/>
            <a:ext cx="310896" cy="310896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22576"/>
            <a:ext cx="310896" cy="310896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22576"/>
            <a:ext cx="310896" cy="310896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2322576"/>
            <a:ext cx="310896" cy="310896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808" y="2889504"/>
            <a:ext cx="310896" cy="310896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889504"/>
            <a:ext cx="310896" cy="310896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889504"/>
            <a:ext cx="310896" cy="310896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2889504"/>
            <a:ext cx="310896" cy="310896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808" y="3456432"/>
            <a:ext cx="310896" cy="310896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456432"/>
            <a:ext cx="310896" cy="310896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3456432"/>
            <a:ext cx="310896" cy="310896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3456432"/>
            <a:ext cx="310896" cy="310896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808" y="4023360"/>
            <a:ext cx="310896" cy="310896"/>
          </a:xfrm>
          <a:prstGeom prst="rect">
            <a:avLst/>
          </a:prstGeom>
        </p:spPr>
      </p:pic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023360"/>
            <a:ext cx="310896" cy="310896"/>
          </a:xfrm>
          <a:prstGeom prst="rect">
            <a:avLst/>
          </a:prstGeom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4023360"/>
            <a:ext cx="310896" cy="310896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4023360"/>
            <a:ext cx="310896" cy="310896"/>
          </a:xfrm>
          <a:prstGeom prst="rect">
            <a:avLst/>
          </a:prstGeom>
        </p:spPr>
      </p:pic>
      <p:sp>
        <p:nvSpPr>
          <p:cNvPr id="35" name="Text 17"/>
          <p:cNvSpPr txBox="1"/>
          <p:nvPr/>
        </p:nvSpPr>
        <p:spPr>
          <a:xfrm>
            <a:off x="731520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400" dirty="0"/>
          </a:p>
        </p:txBody>
      </p:sp>
      <p:sp>
        <p:nvSpPr>
          <p:cNvPr id="36" name="Text 18"/>
          <p:cNvSpPr txBox="1"/>
          <p:nvPr/>
        </p:nvSpPr>
        <p:spPr>
          <a:xfrm>
            <a:off x="731520" y="5074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yang tepat</a:t>
            </a:r>
            <a:endParaRPr lang="en-US" sz="1400" dirty="0"/>
          </a:p>
        </p:txBody>
      </p:sp>
      <p:sp>
        <p:nvSpPr>
          <p:cNvPr id="37" name="Text 19"/>
          <p:cNvSpPr txBox="1"/>
          <p:nvPr/>
        </p:nvSpPr>
        <p:spPr>
          <a:xfrm>
            <a:off x="3383280" y="4526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bayar</a:t>
            </a:r>
            <a:endParaRPr lang="en-US" sz="1400" dirty="0"/>
          </a:p>
        </p:txBody>
      </p:sp>
      <p:sp>
        <p:nvSpPr>
          <p:cNvPr id="38" name="Text 20"/>
          <p:cNvSpPr txBox="1"/>
          <p:nvPr/>
        </p:nvSpPr>
        <p:spPr>
          <a:xfrm>
            <a:off x="3383280" y="5074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Modus, frekuensi</a:t>
            </a:r>
            <a:endParaRPr lang="en-US" sz="1300" dirty="0"/>
          </a:p>
        </p:txBody>
      </p:sp>
      <p:sp>
        <p:nvSpPr>
          <p:cNvPr id="39" name="Text 21"/>
          <p:cNvSpPr txBox="1"/>
          <p:nvPr/>
        </p:nvSpPr>
        <p:spPr>
          <a:xfrm>
            <a:off x="5468112" y="4526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★1–5</a:t>
            </a:r>
            <a:endParaRPr lang="en-US" sz="1400" dirty="0"/>
          </a:p>
        </p:txBody>
      </p:sp>
      <p:sp>
        <p:nvSpPr>
          <p:cNvPr id="40" name="Text 22"/>
          <p:cNvSpPr txBox="1"/>
          <p:nvPr/>
        </p:nvSpPr>
        <p:spPr>
          <a:xfrm>
            <a:off x="5468112" y="5074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median, persentil</a:t>
            </a:r>
            <a:endParaRPr lang="en-US" sz="1300" dirty="0"/>
          </a:p>
        </p:txBody>
      </p:sp>
      <p:sp>
        <p:nvSpPr>
          <p:cNvPr id="41" name="Text 23"/>
          <p:cNvSpPr txBox="1"/>
          <p:nvPr/>
        </p:nvSpPr>
        <p:spPr>
          <a:xfrm>
            <a:off x="7552944" y="4526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Tanggal, suhu °C</a:t>
            </a:r>
            <a:endParaRPr lang="en-US" sz="1400" dirty="0"/>
          </a:p>
        </p:txBody>
      </p:sp>
      <p:sp>
        <p:nvSpPr>
          <p:cNvPr id="42" name="Text 24"/>
          <p:cNvSpPr txBox="1"/>
          <p:nvPr/>
        </p:nvSpPr>
        <p:spPr>
          <a:xfrm>
            <a:off x="7552944" y="5074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mean, simpangan baku</a:t>
            </a:r>
            <a:endParaRPr lang="en-US" sz="1300" dirty="0"/>
          </a:p>
        </p:txBody>
      </p:sp>
      <p:sp>
        <p:nvSpPr>
          <p:cNvPr id="43" name="Text 25"/>
          <p:cNvSpPr txBox="1"/>
          <p:nvPr/>
        </p:nvSpPr>
        <p:spPr>
          <a:xfrm>
            <a:off x="9637776" y="4526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Harga, jumlah</a:t>
            </a:r>
            <a:endParaRPr lang="en-US" sz="1400" dirty="0"/>
          </a:p>
        </p:txBody>
      </p:sp>
      <p:sp>
        <p:nvSpPr>
          <p:cNvPr id="44" name="Text 26"/>
          <p:cNvSpPr txBox="1"/>
          <p:nvPr/>
        </p:nvSpPr>
        <p:spPr>
          <a:xfrm>
            <a:off x="9637776" y="5074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rasio ("2 kali lipat")</a:t>
            </a:r>
            <a:endParaRPr lang="en-US" sz="1300" dirty="0"/>
          </a:p>
        </p:txBody>
      </p:sp>
      <p:sp>
        <p:nvSpPr>
          <p:cNvPr id="45" name="Text 27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skala mewarisi sifat dan statistik skala di sebelah kirinya.</a:t>
            </a:r>
            <a:endParaRPr lang="en-US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3FDAD57-F866-F912-FBF1-B6E27D1AF9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MENENTUKAN ANALISIS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 data berbeda, ringkasan dan grafiknya pun berbeda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/home/claude/ppt/img/p1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1064240" cy="42428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6072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5840" y="5687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Keliru: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kode pos = 71.245 (tidak bermakna)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5760720"/>
            <a:ext cx="347472" cy="3474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54880" y="5687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Keliru: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"Rating 4 dua kali lebih puas dari rating 2"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5760720"/>
            <a:ext cx="347472" cy="34747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503920" y="5687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ulasan bernilai ★4 ke atas; median rating = 4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59F788-6D84-B383-D2CC-00716DAD74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struktur data menurut waktu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6" name="Image 0" descr="/home/claude/ppt/img/p1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3246120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objek, satu waktu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membandingkan antarkota, antarproduk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1" name="Image 1" descr="/home/claude/ppt/img/p1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00200"/>
            <a:ext cx="3246120" cy="2468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objek, banyak waktu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melihat tren dan meramal (minggu 12)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6" name="Image 2" descr="/home/claude/ppt/img/p1_pa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600200"/>
            <a:ext cx="3246120" cy="2468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panel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objek, banyak waktu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membandingkan tren antarkelompok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0B75A3-0B36-9D9D-187F-8568DF9FC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terstruktur dan tidak terstruktur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18699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Terstruktur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Tersusun dalam baris dan kolom; siap dihitung.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17520"/>
          <a:ext cx="4846320" cy="14630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01/09/2026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01/09/2026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02/09/2026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2296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transaksi, stok, data pelanggan di database / spreadsheet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92240" y="1691640"/>
            <a:ext cx="685800" cy="6858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18699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609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terstruktur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berbentuk tabel; perlu diolah dulu sebelum dianalisis.</a:t>
            </a:r>
            <a:endParaRPr lang="en-US" sz="1400" dirty="0"/>
          </a:p>
        </p:txBody>
      </p:sp>
      <p:sp>
        <p:nvSpPr>
          <p:cNvPr id="10" name="Shape 12"/>
          <p:cNvSpPr/>
          <p:nvPr/>
        </p:nvSpPr>
        <p:spPr>
          <a:xfrm>
            <a:off x="6492240" y="30175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18211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ulasan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3566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"Barang bagus, tapi kirimnya lama"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961120" y="30175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318211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50976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produk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9098280" y="3566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ulasan pembeli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92240" y="425196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416552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408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6629400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shopping, konten TikTok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8961120" y="425196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4416552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50976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rekaman</a:t>
            </a:r>
            <a:endParaRPr lang="en-US" sz="1350" dirty="0"/>
          </a:p>
        </p:txBody>
      </p:sp>
      <p:sp>
        <p:nvSpPr>
          <p:cNvPr id="32" name="Text 23"/>
          <p:cNvSpPr txBox="1"/>
          <p:nvPr/>
        </p:nvSpPr>
        <p:spPr>
          <a:xfrm>
            <a:off x="9098280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Percakapan layanan pelanggan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6492240" y="5577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ini berfokus pada data terstruktur.</a:t>
            </a:r>
            <a:endParaRPr lang="en-US" sz="12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A21EA90-DEB0-E87E-B851-5CEA4A63BA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CEPAT · 5 MENIT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Klasifikasikan setiap kolom dataset ini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012680" cy="249631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tanggal_pesan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ukuran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kode_pos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Kecantikan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ORD-10235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Rumah tangga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ilustrasi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4754880"/>
            <a:ext cx="822960" cy="82296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496885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7452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setiap kolom, tentukan: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874520" y="502920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atau numerik? Jika numerik: diskrit atau kontinu?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pengukurannya: nominal, ordinal, interval, atau rasio?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Petunjuk: tidak semua angka adalah data numerik.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88DE4-E5A7-BC2E-3E0F-3D2ECE3BB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LATIHAN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Jawaban dan alasannya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59105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91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unik; tidak untuk dihitung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tanggal_pesan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59105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591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bermakna, tanpa nol mutlak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624328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2734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0" y="27523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0" y="27523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tanpa urutan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2624328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2734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ukuran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66760" y="27523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27523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 M &lt; L, jarak tidak pasti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785616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8953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288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0" y="3913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0" y="3913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0" y="42885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Berurutan; sering didekati sebagai interval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72200" y="3785616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38953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288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 kontinu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366760" y="3913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66760" y="3913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366760" y="42885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 mutlak; "2× lebih mahal" bermakna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4946904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056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" y="5449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 diskrit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0" y="5074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743200" y="5074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743200" y="54498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menghitung; nol = tidak membeli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172200" y="4946904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0" y="5056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kode_pos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0" y="5449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366760" y="5074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66760" y="5074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366760" y="54498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sebagai label lokasi</a:t>
            </a:r>
            <a:endParaRPr lang="en-US" sz="12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E8D2F58-A351-16CC-4B3B-2D9BBA5FC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 digital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mana data bisnis digital berasal, siapa pemiliknya, dan seberapa bisa dipercaya.</a:t>
            </a:r>
            <a:endParaRPr lang="en-US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E812D-BDDE-65C0-E1F5-2592E9508A61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0DE26-8D9A-0382-21C2-19AD62778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216"/>
            <a:ext cx="2078736" cy="6355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DIGITAL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sumber data utama bisnis digital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737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app analytics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4, Firebase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Sesi, sumber trafik, bounce, konversi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192755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737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marketplace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penjual Shopee, Tokopedia, dll.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Penjualan, kunjungan toko, ulasan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35" y="192755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235440" y="1737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923544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YouTube insights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Jangkauan, engagement, demografi audiens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55" y="430499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73736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POS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737360" y="4526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kasir, database pelanggan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beli, frekuensi, nilai pelanggan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29768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0" y="4114800"/>
            <a:ext cx="731520" cy="73152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195" y="4304995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48640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&amp; wawancara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0" y="4526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Forms, kuesioner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0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Kepuasan, NPS, preferensi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804672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21040" y="4114800"/>
            <a:ext cx="731520" cy="73152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1235" y="4304995"/>
            <a:ext cx="351130" cy="35113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23544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publik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9235440" y="4526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BPS, Satu Data Indonesia, Kaggle</a:t>
            </a:r>
            <a:endParaRPr lang="en-US" sz="1150" dirty="0"/>
          </a:p>
        </p:txBody>
      </p:sp>
      <p:sp>
        <p:nvSpPr>
          <p:cNvPr id="40" name="Text 32"/>
          <p:cNvSpPr txBox="1"/>
          <p:nvPr/>
        </p:nvSpPr>
        <p:spPr>
          <a:xfrm>
            <a:off x="8321040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Demografi, ekonomi, dataset latihan</a:t>
            </a:r>
            <a:endParaRPr lang="en-US" sz="13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FE0383D-D345-D7C0-A967-F9D13579BC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pemilik datanya?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60120" y="1554480"/>
            <a:ext cx="4663440" cy="4663440"/>
          </a:xfrm>
          <a:prstGeom prst="ellipse">
            <a:avLst/>
          </a:prstGeom>
          <a:solidFill>
            <a:srgbClr val="E2E8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240280"/>
            <a:ext cx="3291840" cy="3291840"/>
          </a:xfrm>
          <a:prstGeom prst="ellipse">
            <a:avLst/>
          </a:prstGeom>
          <a:solidFill>
            <a:srgbClr val="B8E3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926080"/>
            <a:ext cx="1920240" cy="1920240"/>
          </a:xfrm>
          <a:prstGeom prst="ellipse">
            <a:avLst/>
          </a:prstGeom>
          <a:solidFill>
            <a:srgbClr val="0FA3B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Second-party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645920"/>
            <a:ext cx="274320" cy="2743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581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1581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Dikumpulkan sendiri dari pelanggan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011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toko, akun member, survei pelanggan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95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akurat dan paling aman secara hukum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035808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218688"/>
            <a:ext cx="274320" cy="27432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Second-party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first-party milik mitra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584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penjualan dari marketplace, data co-branding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9684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perjanjian berbagi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608576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791456"/>
            <a:ext cx="274320" cy="27432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4727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4727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Dibeli atau diambil dari agregator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157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audiens iklan, riset pasar pihak lain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541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akurat; cookie pihak ketiga makin dibatasi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primer = dikumpulkan sendiri untuk tujuan analisis; data sekunder = sudah ada, dikumpulkan pihak lain.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946AB05-D312-86FA-FA11-F8865CA2B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in, garbage out: kenali data yang bermasalah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126480" cy="24688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ORD-2001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ORD-2002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01/09/2026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ORD-2002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01/09/2026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ORD-2003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312.000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ORD-2004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51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2688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tanggal tidak konsisten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932688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2–3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2519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041648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kota tidak baku (mks)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4041648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2–3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920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32688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duplikat</a:t>
            </a:r>
            <a:endParaRPr lang="en-US" sz="1250" dirty="0"/>
          </a:p>
        </p:txBody>
      </p:sp>
      <p:sp>
        <p:nvSpPr>
          <p:cNvPr id="14" name="Text 8"/>
          <p:cNvSpPr txBox="1"/>
          <p:nvPr/>
        </p:nvSpPr>
        <p:spPr>
          <a:xfrm>
            <a:off x="932688" y="5120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3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9204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041648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kosong (kota)</a:t>
            </a:r>
            <a:endParaRPr lang="en-US" sz="1250" dirty="0"/>
          </a:p>
        </p:txBody>
      </p:sp>
      <p:sp>
        <p:nvSpPr>
          <p:cNvPr id="17" name="Text 10"/>
          <p:cNvSpPr txBox="1"/>
          <p:nvPr/>
        </p:nvSpPr>
        <p:spPr>
          <a:xfrm>
            <a:off x="4041648" y="5120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4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3212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32688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tersimpan sebagai teks</a:t>
            </a:r>
            <a:endParaRPr lang="en-US" sz="1250" dirty="0"/>
          </a:p>
        </p:txBody>
      </p:sp>
      <p:sp>
        <p:nvSpPr>
          <p:cNvPr id="20" name="Text 12"/>
          <p:cNvSpPr txBox="1"/>
          <p:nvPr/>
        </p:nvSpPr>
        <p:spPr>
          <a:xfrm>
            <a:off x="932688" y="5760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4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5532120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041648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 luar rentang 1–5</a:t>
            </a:r>
            <a:endParaRPr lang="en-US" sz="1250" dirty="0"/>
          </a:p>
        </p:txBody>
      </p:sp>
      <p:sp>
        <p:nvSpPr>
          <p:cNvPr id="5" name="Text 14"/>
          <p:cNvSpPr txBox="1"/>
          <p:nvPr/>
        </p:nvSpPr>
        <p:spPr>
          <a:xfrm>
            <a:off x="4041648" y="5760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5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731520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dimensi kualitas data</a:t>
            </a:r>
            <a:endParaRPr lang="en-US" sz="1600" dirty="0"/>
          </a:p>
        </p:txBody>
      </p:sp>
      <p:sp>
        <p:nvSpPr>
          <p:cNvPr id="25" name="Shape 16"/>
          <p:cNvSpPr/>
          <p:nvPr/>
        </p:nvSpPr>
        <p:spPr>
          <a:xfrm>
            <a:off x="7315200" y="1920240"/>
            <a:ext cx="594360" cy="59436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734" y="2074774"/>
            <a:ext cx="285293" cy="285293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8092440" y="193852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Akurat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8092440" y="2231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kenyataan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7315200" y="2743200"/>
            <a:ext cx="594360" cy="59436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34" y="2897734"/>
            <a:ext cx="285293" cy="285293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092440" y="276148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8092440" y="3054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yang hilang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7315200" y="3566160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734" y="3720694"/>
            <a:ext cx="285293" cy="285293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092440" y="358444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endParaRPr lang="en-US" sz="1500" dirty="0"/>
          </a:p>
        </p:txBody>
      </p:sp>
      <p:sp>
        <p:nvSpPr>
          <p:cNvPr id="36" name="Text 24"/>
          <p:cNvSpPr txBox="1"/>
          <p:nvPr/>
        </p:nvSpPr>
        <p:spPr>
          <a:xfrm>
            <a:off x="8092440" y="3877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dan kode seragam</a:t>
            </a:r>
            <a:endParaRPr lang="en-US" sz="1250" dirty="0"/>
          </a:p>
        </p:txBody>
      </p:sp>
      <p:sp>
        <p:nvSpPr>
          <p:cNvPr id="37" name="Shape 25"/>
          <p:cNvSpPr/>
          <p:nvPr/>
        </p:nvSpPr>
        <p:spPr>
          <a:xfrm>
            <a:off x="7315200" y="4389120"/>
            <a:ext cx="594360" cy="59436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9734" y="4543654"/>
            <a:ext cx="285293" cy="285293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8092440" y="440740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500" dirty="0"/>
          </a:p>
        </p:txBody>
      </p:sp>
      <p:sp>
        <p:nvSpPr>
          <p:cNvPr id="40" name="Text 27"/>
          <p:cNvSpPr txBox="1"/>
          <p:nvPr/>
        </p:nvSpPr>
        <p:spPr>
          <a:xfrm>
            <a:off x="8092440" y="4700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rentang yang sah</a:t>
            </a:r>
            <a:endParaRPr lang="en-US" sz="1250" dirty="0"/>
          </a:p>
        </p:txBody>
      </p:sp>
      <p:sp>
        <p:nvSpPr>
          <p:cNvPr id="41" name="Shape 28"/>
          <p:cNvSpPr/>
          <p:nvPr/>
        </p:nvSpPr>
        <p:spPr>
          <a:xfrm>
            <a:off x="7315200" y="5212080"/>
            <a:ext cx="594360" cy="59436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9734" y="5366614"/>
            <a:ext cx="285293" cy="285293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092440" y="523036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 waktu</a:t>
            </a:r>
            <a:endParaRPr lang="en-US" sz="1500" dirty="0"/>
          </a:p>
        </p:txBody>
      </p:sp>
      <p:sp>
        <p:nvSpPr>
          <p:cNvPr id="44" name="Text 30"/>
          <p:cNvSpPr txBox="1"/>
          <p:nvPr/>
        </p:nvSpPr>
        <p:spPr>
          <a:xfrm>
            <a:off x="8092440" y="5522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baru untuk dipakai</a:t>
            </a:r>
            <a:endParaRPr lang="en-US" sz="1250" dirty="0"/>
          </a:p>
        </p:txBody>
      </p:sp>
      <p:sp>
        <p:nvSpPr>
          <p:cNvPr id="45" name="Text 31"/>
          <p:cNvSpPr txBox="1"/>
          <p:nvPr/>
        </p:nvSpPr>
        <p:spPr>
          <a:xfrm>
            <a:off x="7315200" y="6080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membersihkannya dipraktikkan di minggu 2.</a:t>
            </a:r>
            <a:endParaRPr lang="en-US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374068B-978E-CB90-346A-1AB5C7EABC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Etika data dan UU Pelindungan Data Pribadi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pelanggan adalah amanah. Sejak Oktober 2024, UU PDP berlaku penuh setelah masa transisi dua tahun.</a:t>
            </a:r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CC5E2B-171C-1780-C049-3152CF3919C4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05C626-2D2F-E68C-4739-C77C9711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216"/>
            <a:ext cx="2078736" cy="6355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NO. 27 TAHUN 2022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pribadi apa yang dilindungi?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788920"/>
          </a:xfrm>
          <a:prstGeom prst="roundRect">
            <a:avLst>
              <a:gd name="adj" fmla="val 3934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pribadi umum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4 ayat (3)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146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lengkap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kelamin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Kewarganegaraan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Agama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perkawinan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dikombinasikan untuk mengidentifikasi seseorang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394960" cy="2788920"/>
          </a:xfrm>
          <a:prstGeom prst="roundRect">
            <a:avLst>
              <a:gd name="adj" fmla="val 3934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1858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pribadi spesifik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4 ayat (2) · risiko lebih tinggi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5146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Kesehatan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Biometrik (wajah, sidik jari)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Genetika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kejahatan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keuangan pribadi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sah memproses data pribadi (Pasal 20 ayat 2)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4937760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50474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" y="5486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eksplisit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2404872" y="4937760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1528" y="504748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496312" y="5486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Pelaksanaan perjanjian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61104" y="4937760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504748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52544" y="5486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hukum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117336" y="4937760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5047488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208776" y="5486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Kepentingan vital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7973568" y="4937760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0224" y="5047488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065008" y="5486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pelayanan publik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9829800" y="4937760"/>
            <a:ext cx="1719072" cy="118872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6456" y="5047488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921240" y="5486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Kepentingan sah lainnya</a:t>
            </a:r>
            <a:endParaRPr lang="en-US" sz="12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A766A9E-1085-66EA-9C32-37E585E6CF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NO. 27 TAHUN 2022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Kewajiban dan sanksi yang perlu diketahui bisnis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24328" cy="265176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3×24 jam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pemberitahuan tertulis kegagalan pelindungan data kepada subjek data dan lembaga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46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463040"/>
            <a:ext cx="2624328" cy="265176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468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Denda administratif maksimum dari pendapatan atau penerimaan tahunan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38728" y="3703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57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463040"/>
            <a:ext cx="2624328" cy="265176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B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thn · Rp5 M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468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Pidana maksimum mengumpulkan atau menggunakan data pribadi orang lain secara melawan hukum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45936" y="3703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67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70264" y="1463040"/>
            <a:ext cx="2624328" cy="2651760"/>
          </a:xfrm>
          <a:prstGeom prst="roundRect">
            <a:avLst>
              <a:gd name="adj" fmla="val 41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53144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2468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Pengali maksimum pidana denda bagi korporasi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53144" y="3703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53144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70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subjek data (pelanggan) antara lain: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33856" y="4800600"/>
            <a:ext cx="548640" cy="54864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02" y="4943246"/>
            <a:ext cx="263347" cy="26334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48640" y="54406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 informasi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990088" y="4800600"/>
            <a:ext cx="548640" cy="54864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734" y="4943246"/>
            <a:ext cx="263347" cy="263347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2404872" y="54406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Mengakses &amp; memperoleh salinan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846320" y="4800600"/>
            <a:ext cx="548640" cy="54864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4943246"/>
            <a:ext cx="263347" cy="263347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4261104" y="54406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Memperbaiki data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6702552" y="4800600"/>
            <a:ext cx="548640" cy="54864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198" y="4943246"/>
            <a:ext cx="263347" cy="26334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117336" y="54406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data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8558784" y="4800600"/>
            <a:ext cx="548640" cy="54864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430" y="4943246"/>
            <a:ext cx="263347" cy="26334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973568" y="54406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Menarik persetujuan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10415016" y="4800600"/>
            <a:ext cx="548640" cy="54864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7662" y="4943246"/>
            <a:ext cx="263347" cy="263347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829800" y="54406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Keberatan atas keputusan otomatis</a:t>
            </a:r>
            <a:endParaRPr lang="en-US" sz="1250" dirty="0"/>
          </a:p>
        </p:txBody>
      </p:sp>
      <p:sp>
        <p:nvSpPr>
          <p:cNvPr id="44" name="Text 36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UU No. 27 Tahun 2022 (JDIH BPK); ringkasan sanksi dari Hukumonline. Bukan nasihat hukum.</a:t>
            </a:r>
            <a:endParaRPr lang="en-US" sz="10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E1EDAA-A87F-2282-9963-A61150E062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 DATA DALAM PRAKTIK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prinsip etika data bagi analis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58368" cy="658368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16342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81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Minimisasi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01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hanya data yang benar-benar dibutuhkan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58368" cy="658368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25486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395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715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tujuan pengumpulan kepada pelanggan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658368" cy="6583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3463016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Pseudonimisasi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3630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Samarkan identitas sebelum data dianalisis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206240"/>
            <a:ext cx="658368" cy="658368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6" y="4377416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4544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Batasi akses; jangan kirim data lewat grup chat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5120640"/>
            <a:ext cx="658368" cy="6583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16" y="5291816"/>
            <a:ext cx="316017" cy="31601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5138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Keadilan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371600" y="5458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 bias yang merugikan kelompok tertentu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5943600" y="1463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pseudonimisasi sebelum data dibagikan ke tim analis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943600" y="18745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943600" y="1874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240280"/>
          <a:ext cx="5669280" cy="11887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6C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6C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6C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6C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 Rahma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0812-3456-7810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Jl. Melati 12, Makassar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Budi Santoso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0857-1122-3344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Jl. Kenanga 5, Medan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Shape 21"/>
          <p:cNvSpPr/>
          <p:nvPr/>
        </p:nvSpPr>
        <p:spPr>
          <a:xfrm>
            <a:off x="8503920" y="3520440"/>
            <a:ext cx="457200" cy="4572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2" y="3639312"/>
            <a:ext cx="219456" cy="219456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943600" y="3703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594360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05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4069080"/>
          <a:ext cx="5669280" cy="11887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id_pelanggan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CUST-8F21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0812-****-7810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CUST-2C07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0857-****-3344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Text 24"/>
          <p:cNvSpPr txBox="1"/>
          <p:nvPr/>
        </p:nvSpPr>
        <p:spPr>
          <a:xfrm>
            <a:off x="5943600" y="5440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diganti kode, nomor HP disamarkan, alamat diringkas menjadi kota. Analisis penjualan per kota tetap bisa dilakukan. Nama dan data di atas fiktif.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F4F6985-3F19-3E8D-E696-98C670FF15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KELOMPOK · 15 MENIT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kasus: kebocoran data di "TokoKita"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(FIKTIF)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TokoKita, marketplace UMKM dengan 800 ribu pengguna, menyimpan salinan database pelanggan di layanan cloud tanpa kata sandi agar mudah diakses tim marketing.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Seorang peneliti keamanan menemukan file berisi nama, nomor HP, alamat, dan riwayat belanja. Data itu sudah dijual di forum daring. TokoKita baru mengetahuinya 5 hari kemudian.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146304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1664208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01" y="183062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15910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apa yang bocor?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19476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termasuk data pribadi umum dan spesifik?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0" y="265176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852928"/>
            <a:ext cx="640080" cy="64008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901" y="3019349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27797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Kewajiban apa yang dilanggar?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949440" y="31363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Kaitkan dengan UU PDP (keamanan, notifikasi 3×24 jam).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943600" y="384048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26480" y="4041648"/>
            <a:ext cx="640080" cy="64008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901" y="4208069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49440" y="396849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Siapa yang dirugikan?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949440" y="43251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Pelanggan, UMKM penjual, dan reputasi TokoKita.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943600" y="502920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126480" y="5230368"/>
            <a:ext cx="640080" cy="64008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901" y="539678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949440" y="5157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Apa yang seharusnya dilakukan?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949440" y="55138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Usulkan tiga langkah pencegahan dan tiga langkah respons.</a:t>
            </a:r>
            <a:endParaRPr lang="en-US" sz="12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4475861-965E-31D0-711E-B784E58062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LAB · 170 MENIT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Eksplorasi dataset e-commerce di spreadsheet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035040" cy="411480"/>
          </a:xfrm>
          <a:prstGeom prst="roundRect">
            <a:avLst>
              <a:gd name="adj" fmla="val 22222"/>
            </a:avLst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dataset_ecommerce.xlsx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72768"/>
            <a:ext cx="201168" cy="20116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572768"/>
            <a:ext cx="201168" cy="20116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572768"/>
            <a:ext cx="201168" cy="20116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572768"/>
            <a:ext cx="201168" cy="201168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5303520" cy="199339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kategori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kota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harga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Kecantikan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Surabaya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Rumah tangga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hart 0"/>
          <p:cNvGraphicFramePr/>
          <p:nvPr/>
        </p:nvGraphicFramePr>
        <p:xfrm>
          <a:off x="731520" y="4114800"/>
          <a:ext cx="56692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Shape 6"/>
          <p:cNvSpPr/>
          <p:nvPr/>
        </p:nvSpPr>
        <p:spPr>
          <a:xfrm>
            <a:off x="6949440" y="150876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69494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8"/>
          <p:cNvSpPr txBox="1"/>
          <p:nvPr/>
        </p:nvSpPr>
        <p:spPr>
          <a:xfrm>
            <a:off x="7635240" y="14904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dataset dari LMS, buka di Excel / Google Sheets</a:t>
            </a:r>
            <a:endParaRPr lang="en-US" sz="1350" dirty="0"/>
          </a:p>
        </p:txBody>
      </p:sp>
      <p:sp>
        <p:nvSpPr>
          <p:cNvPr id="17" name="Shape 9"/>
          <p:cNvSpPr/>
          <p:nvPr/>
        </p:nvSpPr>
        <p:spPr>
          <a:xfrm>
            <a:off x="6949440" y="224028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6949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7635240" y="22219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Bekukan baris judul, periksa jumlah baris dan kolom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6949440" y="297180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69494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7635240" y="295351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jenis &amp; skala tiap kolom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949440" y="370332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9494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7635240" y="36850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filter &amp; sort: produk termahal, kota terbanyak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949440" y="443484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9494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7635240" y="44165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pivot table: pesanan &amp; omzet per kategori</a:t>
            </a:r>
            <a:endParaRPr lang="en-US" sz="1350" dirty="0"/>
          </a:p>
        </p:txBody>
      </p:sp>
      <p:sp>
        <p:nvSpPr>
          <p:cNvPr id="12" name="Shape 21"/>
          <p:cNvSpPr/>
          <p:nvPr/>
        </p:nvSpPr>
        <p:spPr>
          <a:xfrm>
            <a:off x="6949440" y="5166360"/>
            <a:ext cx="502920" cy="50292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9494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7635240" y="51480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satu grafik batang dari pivot table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dan angka ilustrasi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E1493A1-5BAF-58C1-F8F0-E383597B40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1 · INDIVIDU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dataset e-commerce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583680" cy="466344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8818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dikerjakan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688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satu dataset e-commerce dari Kaggle (minimal 8 kolom, 500 baris).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tabel klasifikasi: nama kolom, jenis data, skala, dan alasan.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minimal tiga masalah kualitas data yang ditemukan.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kolom yang termasuk data pribadi menurut UU PDP dan usulkan cara menyamarkannya.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dua pertanyaan bisnis yang bisa dijawab dengan dataset tersebut.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0" y="1463040"/>
            <a:ext cx="548640" cy="54864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16056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8388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Tenggat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1700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pertemuan 2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498080" y="22402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726" y="23829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8388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2478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maks. 3 halaman + file dataset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498080" y="3017520"/>
            <a:ext cx="548640" cy="54864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0726" y="316016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18388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 di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8183880" y="3255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· folder Tugas 1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7498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</a:t>
            </a:r>
            <a:endParaRPr lang="en-US" sz="15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7406640" y="4206240"/>
          <a:ext cx="4297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54425CF4-3FCD-87E4-C3B7-81C944A205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8262" y="224157"/>
            <a:ext cx="1390338" cy="42506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kita pelajari hari ini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9613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mengubah jejak data pelanggan menjadi keputusan: dari deskriptif hingga preskriptif.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9613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7373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dan skala data (NOIR) menentukan statistik dan grafik yang boleh dipakai.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33787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1546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digital datang dari banyak sumber; kualitasnya harus diperiksa sebelum dipakai.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17920" y="320040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228" y="337870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86600" y="31546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PDP mewajibkan dasar pemrosesan yang sah, keamanan, dan notifikasi 3×24 jam bila bocor.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475488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68680" y="4983480"/>
            <a:ext cx="731520" cy="73152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" y="5173675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 · DATA WRANGLING &amp; EDA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828800" y="528523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akun Google untuk Colab, bawa dataset Tugas 1, dan baca Anderson dkk. bab 1 (Data and Statistics).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2547</Words>
  <Application>Microsoft Macintosh PowerPoint</Application>
  <PresentationFormat>Widescreen</PresentationFormat>
  <Paragraphs>655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— Data dalam Bisnis Digital</dc:title>
  <dc:subject>PptxGenJS Presentation</dc:subject>
  <dc:creator>PptxGenJS</dc:creator>
  <cp:lastModifiedBy>Adi Jufriansah</cp:lastModifiedBy>
  <cp:revision>2</cp:revision>
  <dcterms:created xsi:type="dcterms:W3CDTF">2026-09-27T13:53:36Z</dcterms:created>
  <dcterms:modified xsi:type="dcterms:W3CDTF">2026-09-28T06:33:02Z</dcterms:modified>
</cp:coreProperties>
</file>