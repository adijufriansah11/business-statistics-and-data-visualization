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Jumlah transaksi per kelompok_belanja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Transaksi</c:v>
                </c:pt>
              </c:strCache>
            </c:strRef>
          </c:tx>
          <c:spPr>
            <a:solidFill>
              <a:srgbClr val="F7B3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100 rb</c:v>
                  </c:pt>
                  <c:pt idx="1">
                    <c:v>100–300 rb</c:v>
                  </c:pt>
                  <c:pt idx="2">
                    <c:v>300 rb–1 jt</c:v>
                  </c:pt>
                  <c:pt idx="3">
                    <c:v>&gt; 1 jt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295</c:v>
                </c:pt>
                <c:pt idx="1">
                  <c:v>601</c:v>
                </c:pt>
                <c:pt idx="2">
                  <c:v>470</c:v>
                </c:pt>
                <c:pt idx="3">
                  <c:v>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C8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A3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E6C4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7B3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· Profil data</c:v>
                  </c:pt>
                  <c:pt idx="1">
                    <c:v>2 · Duplikat &amp; label</c:v>
                  </c:pt>
                  <c:pt idx="2">
                    <c:v>3 · Tipe data &amp; missing</c:v>
                  </c:pt>
                  <c:pt idx="3">
                    <c:v>4 · Tidak valid &amp; outlier</c:v>
                  </c:pt>
                  <c:pt idx="4">
                    <c:v>5 · EDA &amp; insight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 · BUSINESS STATISTICS AND DATA VISUALIZATION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 &amp; Exploratory Data Analysis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Membersihkan, merapikan, dan mengenali data transaksi dengan Python (pandas) dan spreadsheet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572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Sub-CPMK-2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45720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4572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4572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4572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P3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06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Dosen Pengampu] · Prodi S1 Bisnis Digital</a:t>
            </a:r>
            <a:endParaRPr lang="en-US" sz="1300" dirty="0"/>
          </a:p>
        </p:txBody>
      </p:sp>
      <p:pic>
        <p:nvPicPr>
          <p:cNvPr id="13" name="Image 0" descr="/home/claude/ppt/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60120"/>
            <a:ext cx="4846320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pertemuan: 100 menit kelas + 170 menit lab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TEORI · 100 MENIT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5156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4380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801" y="268102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24612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motivasi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655064" y="1783080"/>
            <a:ext cx="2157984" cy="502920"/>
          </a:xfrm>
          <a:prstGeom prst="rect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55064" y="1783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414016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437" y="26810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63624" y="324612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pandas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3867912" y="1783080"/>
            <a:ext cx="4370832" cy="5029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867912" y="178308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40'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733288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709" y="26810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76472" y="3246120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Membersihkan data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293608" y="1783080"/>
            <a:ext cx="1051560" cy="502920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93608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499348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769" y="268102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02168" y="324612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9400032" y="1783080"/>
            <a:ext cx="2157984" cy="50292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400032" y="1783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10158984" y="2514600"/>
            <a:ext cx="640080" cy="64008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405" y="268102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308592" y="324612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insight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2960" y="4434840"/>
            <a:ext cx="822960" cy="8229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30" y="4648810"/>
            <a:ext cx="395021" cy="39502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87452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LAB · 170 MENIT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874520" y="4709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Google Colab: membersihkan 1.537 transaksi TokoKita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1874520" y="51663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Pertemuan_2_Data_Wrangling_EDA.ipynb dikerjakan bertahap: inspect → clean → transform → EDA → simpan. Ditutup dengan penjelasan Tugas 2 (5 soal).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ini, mahasiswa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38528"/>
            <a:ext cx="914400" cy="9144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762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Menginspeksi data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304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ukuran, tipe kolom, data kosong, dan sebaran nilai dengan pandas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92040" y="19202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9202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5544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1938528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17627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58952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Membersihkan data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2304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duplikat, tipe data salah, label tidak seragam, missing value, nilai tidak valid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0515600" y="19202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515600" y="19202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P3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4747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858768"/>
            <a:ext cx="914400" cy="9144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09651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96596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outlier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965960" y="4224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outlier yang merupakan kesalahan dari yang nyata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892040" y="38404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892040" y="3840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72200" y="34747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46520" y="3858768"/>
            <a:ext cx="914400" cy="9144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096512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58952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EDA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4224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kolom turunan, ringkasan per kelompok, grafik, dan insight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10515600" y="38404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515600" y="3840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P3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65099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4300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Diukur melalui Tugas 2 (laporan praktikum pembersihan data, bobot 3% nilai akhir) dan bagian dari Sub-CPMK-2 (bobot 5%).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MENGINGAT PERTEMUAN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mengenali masalah ke memperbaikinya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kita temukan di dataset TokoKita (1.537 baris):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86000"/>
            <a:ext cx="777240" cy="77724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488082"/>
            <a:ext cx="373075" cy="37307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duplikat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baris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97680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286000"/>
            <a:ext cx="777240" cy="77724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248808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tersimpan sebagai teks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53212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7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baris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2286000"/>
            <a:ext cx="777240" cy="7772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248808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8116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tanggal campur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92811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 baris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48640" y="37033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431688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783080" y="4023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tidak seragam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783080" y="4572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B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label, 5 kota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4297680" y="37033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0" y="4114800"/>
            <a:ext cx="777240" cy="77724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082" y="4316882"/>
            <a:ext cx="373075" cy="37307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532120" y="4023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kosong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532120" y="4572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 rating</a:t>
            </a: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8046720" y="37033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21040" y="4114800"/>
            <a:ext cx="777240" cy="77724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122" y="4316882"/>
            <a:ext cx="373075" cy="37307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281160" y="4023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tidak valid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9281160" y="4572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0, 6, 10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angka dihitung dari dataset latihan fiktif yang dipakai di notebook hari ini.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langkah data wrangling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691640" cy="402336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83080"/>
            <a:ext cx="822960" cy="82296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19970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58368" y="3200400"/>
            <a:ext cx="1472184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3200400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749040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data mentah; simpan salinannya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258568" y="2194560"/>
            <a:ext cx="164592" cy="914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441448" y="1554480"/>
            <a:ext cx="1691640" cy="402336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80360" y="1783080"/>
            <a:ext cx="822960" cy="82296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330" y="1997050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441448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Inspect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2551176" y="3200400"/>
            <a:ext cx="1472184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551176" y="3200400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.info() .describe()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2551176" y="3749040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Ukuran, tipe, kosong, sebaran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151376" y="2194560"/>
            <a:ext cx="164592" cy="914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334256" y="1554480"/>
            <a:ext cx="1691640" cy="402336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73168" y="1783080"/>
            <a:ext cx="822960" cy="8229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138" y="1997050"/>
            <a:ext cx="395021" cy="39502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334256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Clean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4443984" y="3200400"/>
            <a:ext cx="1472184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443984" y="3200400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.drop_duplicates()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4443984" y="3749040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Duplikat, tipe, label, kosong, tidak valid, outlier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044184" y="2194560"/>
            <a:ext cx="164592" cy="914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227064" y="1554480"/>
            <a:ext cx="1691640" cy="402336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65976" y="1783080"/>
            <a:ext cx="822960" cy="82296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946" y="1997050"/>
            <a:ext cx="395021" cy="395021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227064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Transform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6336792" y="3200400"/>
            <a:ext cx="1472184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336792" y="3200400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df["total"] = …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6336792" y="3749040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turunan, kelompok, log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7936992" y="2194560"/>
            <a:ext cx="164592" cy="914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8119872" y="1554480"/>
            <a:ext cx="1691640" cy="402336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8558784" y="1783080"/>
            <a:ext cx="822960" cy="82296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754" y="1997050"/>
            <a:ext cx="395021" cy="395021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119872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Explore</a:t>
            </a:r>
            <a:endParaRPr lang="en-US" sz="1700" dirty="0"/>
          </a:p>
        </p:txBody>
      </p:sp>
      <p:sp>
        <p:nvSpPr>
          <p:cNvPr id="41" name="Shape 34"/>
          <p:cNvSpPr/>
          <p:nvPr/>
        </p:nvSpPr>
        <p:spPr>
          <a:xfrm>
            <a:off x="8229600" y="3200400"/>
            <a:ext cx="1472184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229600" y="3200400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.groupby() .plot()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8229600" y="3749040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Ringkasan, grafik, insight</a:t>
            </a:r>
            <a:endParaRPr lang="en-US" sz="1250" dirty="0"/>
          </a:p>
        </p:txBody>
      </p:sp>
      <p:sp>
        <p:nvSpPr>
          <p:cNvPr id="44" name="Shape 37"/>
          <p:cNvSpPr/>
          <p:nvPr/>
        </p:nvSpPr>
        <p:spPr>
          <a:xfrm>
            <a:off x="9829800" y="2194560"/>
            <a:ext cx="164592" cy="914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10012680" y="1554480"/>
            <a:ext cx="1691640" cy="402336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10451592" y="1783080"/>
            <a:ext cx="822960" cy="82296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5562" y="1997050"/>
            <a:ext cx="395021" cy="395021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001268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Save</a:t>
            </a:r>
            <a:endParaRPr lang="en-US" sz="1700" dirty="0"/>
          </a:p>
        </p:txBody>
      </p:sp>
      <p:sp>
        <p:nvSpPr>
          <p:cNvPr id="49" name="Shape 41"/>
          <p:cNvSpPr/>
          <p:nvPr/>
        </p:nvSpPr>
        <p:spPr>
          <a:xfrm>
            <a:off x="10122408" y="3200400"/>
            <a:ext cx="1472184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10122408" y="3200400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.to_csv()</a:t>
            </a:r>
            <a:endParaRPr lang="en-US" sz="950" dirty="0"/>
          </a:p>
        </p:txBody>
      </p:sp>
      <p:sp>
        <p:nvSpPr>
          <p:cNvPr id="51" name="Text 43"/>
          <p:cNvSpPr txBox="1"/>
          <p:nvPr/>
        </p:nvSpPr>
        <p:spPr>
          <a:xfrm>
            <a:off x="10122408" y="3749040"/>
            <a:ext cx="1472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bersih + cleaning log</a:t>
            </a:r>
            <a:endParaRPr lang="en-US" sz="1250" dirty="0"/>
          </a:p>
        </p:txBody>
      </p:sp>
      <p:sp>
        <p:nvSpPr>
          <p:cNvPr id="52" name="Shape 44"/>
          <p:cNvSpPr/>
          <p:nvPr/>
        </p:nvSpPr>
        <p:spPr>
          <a:xfrm>
            <a:off x="548640" y="5806440"/>
            <a:ext cx="457200" cy="457200"/>
          </a:xfrm>
          <a:prstGeom prst="ellipse">
            <a:avLst/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925312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143000" y="5806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2–4 sering diulang: setiap perbaikan bisa memunculkan masalah baru. Selalu catat apa yang diubah.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Python dan pandas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adalah pustaka Python untuk mengolah tabel. Bayangkan Excel yang bisa diotomasi dan diulang dengan satu klik.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Notebook: teks penjelasan dan kode dalam satu dokumen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76656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766560" cy="45720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Pertemuan_2_Data_Wrangling_EDA.ipynb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2.1 Duplikat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persis: seluruh kolom sama, biasanya akibat data terunggah dua kali.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94960" y="21031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94960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TEKS (Markdown)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88720" y="306324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371600" y="3200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print("Duplikat:", df.duplicated().sum())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52160" y="2743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852160" y="2743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KODE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3977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Duplikat: 37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852160" y="39776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52160" y="3977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22960" y="4480560"/>
            <a:ext cx="62179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4617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Coba sendiri 2: seragamkan kolom metode_bayar…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latihan ditandai 🧩: isi kodenya, lalu jalankan.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680960" y="1508760"/>
            <a:ext cx="594360" cy="59436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494" y="166329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458200" y="1490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Enter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458200" y="18105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sel dan pindah ke sel berikutnya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7680960" y="2670048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494" y="2824582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45820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penting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45820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sel dari atas ke bawah; variabel dibawa ke sel berikutnya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7680960" y="3831336"/>
            <a:ext cx="594360" cy="59436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494" y="3985870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458200" y="3813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data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458200" y="41330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Files (ikon folder) → unggah CSV dari LMS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680960" y="4992624"/>
            <a:ext cx="594360" cy="59436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494" y="5147158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458200" y="49743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aneh?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458200" y="529437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→ Restart and run all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PANDAS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 sebuah DataFrame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2148840"/>
            <a:ext cx="146304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21488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587752"/>
            <a:ext cx="146304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5877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TK-100312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0" y="3026664"/>
            <a:ext cx="1463040" cy="438912"/>
          </a:xfrm>
          <a:prstGeom prst="rect">
            <a:avLst/>
          </a:prstGeom>
          <a:solidFill>
            <a:srgbClr val="E3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30266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TK-100869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3465576"/>
            <a:ext cx="146304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28800" y="34655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TK-101478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0" y="3904488"/>
            <a:ext cx="146304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390448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TK-101157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2148840"/>
            <a:ext cx="1417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21488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tanggal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587752"/>
            <a:ext cx="141732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25877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3026664"/>
            <a:ext cx="1417320" cy="438912"/>
          </a:xfrm>
          <a:prstGeom prst="rect">
            <a:avLst/>
          </a:prstGeom>
          <a:solidFill>
            <a:srgbClr val="E3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91840" y="302666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3465576"/>
            <a:ext cx="141732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346557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2026-09-29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91840" y="3904488"/>
            <a:ext cx="141732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390448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2026-09-17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2148840"/>
            <a:ext cx="132588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2148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587752"/>
            <a:ext cx="13258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258775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Makassar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026664"/>
            <a:ext cx="1325880" cy="438912"/>
          </a:xfrm>
          <a:prstGeom prst="rect">
            <a:avLst/>
          </a:prstGeom>
          <a:solidFill>
            <a:srgbClr val="E3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302666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Medan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13258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46557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Surabaya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904488"/>
            <a:ext cx="13258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39044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Bandung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35040" y="2148840"/>
            <a:ext cx="1234440" cy="438912"/>
          </a:xfrm>
          <a:prstGeom prst="rect">
            <a:avLst/>
          </a:prstGeom>
          <a:solidFill>
            <a:srgbClr val="F7B3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35040" y="21488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35040" y="2587752"/>
            <a:ext cx="1234440" cy="438912"/>
          </a:xfrm>
          <a:prstGeom prst="rect">
            <a:avLst/>
          </a:prstGeom>
          <a:solidFill>
            <a:srgbClr val="FDF1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35040" y="25877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213000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35040" y="3026664"/>
            <a:ext cx="1234440" cy="438912"/>
          </a:xfrm>
          <a:prstGeom prst="rect">
            <a:avLst/>
          </a:prstGeom>
          <a:solidFill>
            <a:srgbClr val="FDF1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0" y="30266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149500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035040" y="3465576"/>
            <a:ext cx="1234440" cy="438912"/>
          </a:xfrm>
          <a:prstGeom prst="rect">
            <a:avLst/>
          </a:prstGeom>
          <a:solidFill>
            <a:srgbClr val="FDF1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35040" y="346557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88000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035040" y="3904488"/>
            <a:ext cx="1234440" cy="438912"/>
          </a:xfrm>
          <a:prstGeom prst="rect">
            <a:avLst/>
          </a:prstGeom>
          <a:solidFill>
            <a:srgbClr val="FDF1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35040" y="390448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49000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269480" y="2148840"/>
            <a:ext cx="100584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69480" y="21488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269480" y="2587752"/>
            <a:ext cx="100584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69480" y="25877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269480" y="3026664"/>
            <a:ext cx="1005840" cy="438912"/>
          </a:xfrm>
          <a:prstGeom prst="rect">
            <a:avLst/>
          </a:prstGeom>
          <a:solidFill>
            <a:srgbClr val="E3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69480" y="30266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269480" y="3465576"/>
            <a:ext cx="100584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269480" y="34655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269480" y="3904488"/>
            <a:ext cx="100584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69480" y="39044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325880" y="2587752"/>
            <a:ext cx="457200" cy="438912"/>
          </a:xfrm>
          <a:prstGeom prst="rect">
            <a:avLst/>
          </a:prstGeom>
          <a:solidFill>
            <a:srgbClr val="FCE7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325880" y="258775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325880" y="3026664"/>
            <a:ext cx="457200" cy="438912"/>
          </a:xfrm>
          <a:prstGeom prst="rect">
            <a:avLst/>
          </a:prstGeom>
          <a:solidFill>
            <a:srgbClr val="FCE7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325880" y="30266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325880" y="3465576"/>
            <a:ext cx="457200" cy="438912"/>
          </a:xfrm>
          <a:prstGeom prst="rect">
            <a:avLst/>
          </a:prstGeom>
          <a:solidFill>
            <a:srgbClr val="FCE7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32588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325880" y="3904488"/>
            <a:ext cx="457200" cy="438912"/>
          </a:xfrm>
          <a:prstGeom prst="rect">
            <a:avLst/>
          </a:prstGeom>
          <a:solidFill>
            <a:srgbClr val="FCE7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325880" y="39044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03504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(Series): satu variabel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629400" y="1755648"/>
            <a:ext cx="914" cy="365760"/>
          </a:xfrm>
          <a:prstGeom prst="line">
            <a:avLst/>
          </a:prstGeom>
          <a:noFill/>
          <a:ln w="19050">
            <a:solidFill>
              <a:srgbClr val="F7B32B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54864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8503920" y="3026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Baris: satu transaksi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 flipH="1">
            <a:off x="8293608" y="3246120"/>
            <a:ext cx="182880" cy="914"/>
          </a:xfrm>
          <a:prstGeom prst="line">
            <a:avLst/>
          </a:prstGeom>
          <a:noFill/>
          <a:ln w="19050">
            <a:solidFill>
              <a:srgbClr val="0B7C87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54864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kolom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54864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(dtype) yang sering ditemui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548640" y="516636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85800" y="5230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/ str</a:t>
            </a:r>
            <a:endParaRPr lang="en-US" sz="1250" dirty="0"/>
          </a:p>
        </p:txBody>
      </p:sp>
      <p:sp>
        <p:nvSpPr>
          <p:cNvPr id="72" name="Text 70"/>
          <p:cNvSpPr txBox="1"/>
          <p:nvPr/>
        </p:nvSpPr>
        <p:spPr>
          <a:xfrm>
            <a:off x="68580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85800" y="5806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kota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70632" y="516636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907792" y="5230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int64</a:t>
            </a:r>
            <a:endParaRPr lang="en-US" sz="1250" dirty="0"/>
          </a:p>
        </p:txBody>
      </p:sp>
      <p:sp>
        <p:nvSpPr>
          <p:cNvPr id="76" name="Text 74"/>
          <p:cNvSpPr txBox="1"/>
          <p:nvPr/>
        </p:nvSpPr>
        <p:spPr>
          <a:xfrm>
            <a:off x="2907792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bulat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2907792" y="5806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992624" y="516636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129784" y="5230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250" dirty="0"/>
          </a:p>
        </p:txBody>
      </p:sp>
      <p:sp>
        <p:nvSpPr>
          <p:cNvPr id="80" name="Text 78"/>
          <p:cNvSpPr txBox="1"/>
          <p:nvPr/>
        </p:nvSpPr>
        <p:spPr>
          <a:xfrm>
            <a:off x="5129784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desimal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5129784" y="5806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(bisa NaN)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214616" y="516636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351776" y="5230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datetime64</a:t>
            </a:r>
            <a:endParaRPr lang="en-US" sz="1250" dirty="0"/>
          </a:p>
        </p:txBody>
      </p:sp>
      <p:sp>
        <p:nvSpPr>
          <p:cNvPr id="84" name="Text 82"/>
          <p:cNvSpPr txBox="1"/>
          <p:nvPr/>
        </p:nvSpPr>
        <p:spPr>
          <a:xfrm>
            <a:off x="7351776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&amp; waktu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7351776" y="5806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(setelah dikonversi)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436608" y="5166360"/>
            <a:ext cx="2084832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573768" y="5230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250" dirty="0"/>
          </a:p>
        </p:txBody>
      </p:sp>
      <p:sp>
        <p:nvSpPr>
          <p:cNvPr id="88" name="Text 86"/>
          <p:cNvSpPr txBox="1"/>
          <p:nvPr/>
        </p:nvSpPr>
        <p:spPr>
          <a:xfrm>
            <a:off x="9573768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benar/salah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9573768" y="5806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grosir, akhir_pekan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INSPECT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perintah pertama untuk mengenali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Ukuran: baris dan kolom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64592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709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(1537, 9)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64592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Sekilas isi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72600" y="164592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4040" y="1709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baris pertama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0040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&amp; jumlah non-null tiap kolom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49040" y="3200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32644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harga: str 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20040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statistik; nilai aneh terlihat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372600" y="3200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64040" y="32644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min = −2 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75488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df["kota"].value_counts()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349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 tiap label kategori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749040" y="47548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40480" y="4818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840480" y="5074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nilai unik ✗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7220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475488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46520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5349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data kosong per kolom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372600" y="47548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64040" y="4818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464040" y="5074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107 kosong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= masalah yang harus dibersihkan. Angka dari dataset latihan TokoKita.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DARI SPREADSHEET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biasa Anda lakukan di Excel, dalam pandas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/ Google Sheets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C8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Membuka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→ Open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pd.read_csv("data.csv")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Menyaring baris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(ikon corong)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df[df["kota"] == "Makassar"]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Mengurutkan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A→Z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df.sort_values("harga")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Menghapus duplikat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→ Remove 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df.drop_duplicates()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Mencari &amp; mengganti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df["kota"].replace({"mks": "Makassar"})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rumus baru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=D2*E2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df["total"] = df["harga"] * df["jumlah"]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→ PivotTable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df.pivot_table(index="kota", values="total", aggfunc="sum")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VLOOKUP / XLOOKUP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=XLOOKUP(…)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7C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df.merge(pelanggan, on="id_pelanggan")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943600"/>
            <a:ext cx="411480" cy="411480"/>
          </a:xfrm>
          <a:prstGeom prst="ellipse">
            <a:avLst/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6050585"/>
            <a:ext cx="197510" cy="1975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59161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 pandas: setiap langkah tercatat sebagai kode, sehingga dapat diulang pada data bulan depan dalam hitungan detik.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Membersihkan data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masalah, enam teknik. Kuncinya bukan menghapus sebanyak mungkin, tetapi memutuskan dengan alasan.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1 · DUPLIKAT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Duplikat membuat omzet terhitung dua kali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28016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TK-100412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TK-100587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25/08/2026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TK-100587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25/08/2026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TK-100588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ilustrasi dua baris identik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142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persis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kolom sama → aman dihapus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12064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193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kunci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sama, isi berbeda → selidiki dulu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150876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6459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Hitung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B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37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Hapus &amp; catat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n0 = len(df)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catat("Hapus duplikat", ..., n0, len(df))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Periksa kunci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df["order_id"].duplicated().sum()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B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534924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1.537 → 1.500 baris.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transaksi tercatat dua kali, kemungkinan karena data terunggah ulang.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2 · TIPE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 yang menyamar sebagai angka dan tanggal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Harga: 180 baris berformat "Rp"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awal str → tidak bisa dijumlah atau dirata-rata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2918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 149.500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 1.070.000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83464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29184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149500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74904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1070000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34340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44805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df["harga"] = (df["harga"]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.str.replace(r"[^0-9]", "", regex=True)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.astype("int64"))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[^0-9] = semua karakter selain angka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46304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Tanggal: 375 baris berformat dd/mm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tiap format secara eksplisit agar hari dan bulan tidak tertukar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46520" y="24231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24231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0684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46520" y="28346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32918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17/09/2026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37490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23/08/2026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006840" y="283464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9828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06840" y="329184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982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2026-09-17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06840" y="374904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9828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2026-08-23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46520" y="4343400"/>
            <a:ext cx="489204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29400" y="44805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= pd.to_datetime(df["tanggal"],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format="%Y-%m-%d", errors="coerce")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dmy = pd.to_datetime(df["tanggal"],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format="%d/%m/%Y", errors="coerce")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df["tanggal"] = iso.fillna(dmy)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3 · LABEL KATEGORI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kota, banyak penulisan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/home/claude/ppt/img/p2_lab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46304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435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17556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spasi di tepi: "Makassar " → "Makassar"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242316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2395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2715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huruf: "MAKASSAR" → "Makassar"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338328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838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355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.replace(peta)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3675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singkatan: "Mks" → "Makassar"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6634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peta_kota = {"Mks": "Makassar", "Jkt": "Jakarta", "Dki Jakarta": "Jakarta",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"Sby": "Surabaya", "Bdg": "Bandung"}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df["kota"] = df["kota"].str.strip().str.title().replace(peta_kota)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B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Nilai unik kota: 21 → 5   ·   metode_bayar: 13 →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4 · MISSING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kosong: pahami penyebabnya sebelum mengisi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/home/claude/ppt/img/p2_mi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12064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kunci: mengapa data ini kosong, dan apakah mengisinya akan mengubah kesimpulan?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46304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664208"/>
            <a:ext cx="640080" cy="64008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341" y="183062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baris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040880" y="18562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Sedikit, acak, dan baris tidak penting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2148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Hati-hati: omzet baris itu ikut hilang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265176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2852928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3019349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2724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kategori "Tidak diketahui"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040880" y="30449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 (3%) dan metode_bayar (2%)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7040880" y="33375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dan omzetnya tetap dihitung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384048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0" y="4041648"/>
            <a:ext cx="640080" cy="64008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341" y="42080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3913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 median + flag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42336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numerik yang wajib terisi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040880" y="45262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baris yang diisi agar transparan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035040" y="502920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217920" y="5230368"/>
            <a:ext cx="640080" cy="64008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539678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40880" y="5102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Biarkan kosong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040880" y="54223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(7%): pembeli memang tidak memberi ulasan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7040880" y="57150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dengan rata-rata membuat data tampak lebih seragam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6035040" y="6263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berwarna hijau muda = strategi yang dipakai di notebook.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5 · NILAI TIDAK VALID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bisnis menentukan nilai yang mustahil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21031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1–5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Ditemukan: 0, 6, 10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7B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baris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00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Diubah menjadi kosong; transaksinya tetap dipakai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52360" y="21031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≥ 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Ditemukan: 0, −1, −2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82980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baris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00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Dihapus: transaksi tidak sah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1645920"/>
            <a:ext cx="685800" cy="6858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824228"/>
            <a:ext cx="329184" cy="32918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492240" y="1645920"/>
            <a:ext cx="685800" cy="6858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1824228"/>
            <a:ext cx="329184" cy="32918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48640" y="4434840"/>
            <a:ext cx="694944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31520" y="457200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salah = df["rating"].notna() &amp; ~df["rating"].between(1, 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df.loc[salah, "rating"] = np.nan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df[df["jumlah"] &gt;= 1]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772400" y="443484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001000" y="4572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valid ≠ outlier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8001000" y="4937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tidak valid mustahil menurut aturan. Outlier mungkin saja benar, hanya tidak biasa.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6 · OUTLIER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Outlier: kesalahan atau kejadian nyata?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5" name="Image 0" descr="/home/claude/ppt/img/p2_i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498080" cy="2999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89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Q1. Nilai &gt; Q3 + 1,5×IQR atau &lt; Q1 − 1,5×IQR dianggap outlier.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8006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CE7E1"/>
          </a:solidFill>
          <a:ln w="12700">
            <a:solidFill>
              <a:srgbClr val="FCE7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9377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4910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Kesalahan: salah ketik harga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303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transaksi Fashion/Kecantikan/Makanan berharga &gt; 5× median kategori (kelebihan satu digit nol)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Koreksi: harga ÷ 10, catat di log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3400" y="48006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9377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37760" y="4910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Nyata: pembelian grosir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5303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transaksi berjumlah 24–60 unit (median jumlah: 2 unit)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4526280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Pertahankan, beri penanda kolom grosir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pertanyaan sebelum bertindak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961120" y="1874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Mungkinkah nilai ini terjadi di dunia nyata?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366760" y="2880360"/>
            <a:ext cx="457200" cy="4572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3667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961120" y="2834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Adakah pola kesalahan yang jelas (mis. ×10)?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366760" y="3840480"/>
            <a:ext cx="457200" cy="4572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366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961120" y="3794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kesimpulan berubah jika nilai ini dihapus?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366760" y="48006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549640" y="486460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otomatis menghapus semua outlier. Banyak outlier harga Elektronik adalah produk mahal yang wajar.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Transformasi dan EDA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bersih siap ditanya. EDA mencari pola, kejutan, dan pertanyaan baru.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TRANSFORM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Kolom turunan membuat data lebih mudah dianalisis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72768"/>
            <a:ext cx="548640" cy="54864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715414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517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tiap transaksi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× jumlah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59152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2414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bulan, hari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71600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waktu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3591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dari tanggal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255264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364992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507638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akhir_pekan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36667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566160" y="325526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hari ≥ Sabtu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151376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5800" y="4261104"/>
            <a:ext cx="548640" cy="54864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4403750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kelompok_belanja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4562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rb … &gt; 1 jt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3566160" y="415137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pd.cut(total, …)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5047488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85800" y="5157216"/>
            <a:ext cx="548640" cy="54864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" y="5299862"/>
            <a:ext cx="263347" cy="26334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371600" y="5102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log_total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1371600" y="5458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meredam kemencengan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3566160" y="50474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7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np.log10(total)</a:t>
            </a:r>
            <a:endParaRPr lang="en-US" sz="1150" dirty="0"/>
          </a:p>
        </p:txBody>
      </p:sp>
      <p:pic>
        <p:nvPicPr>
          <p:cNvPr id="35" name="Image 5" descr="/home/claude/ppt/img/p2_lo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463040"/>
            <a:ext cx="5257800" cy="198424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355080" y="35661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log membuat distribusi total belanja yang sangat menceng menjadi lebih simetris, sehingga pola di nilai kecil ikut terlihat.</a:t>
            </a:r>
            <a:endParaRPr lang="en-US" sz="125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6263640" y="4343400"/>
          <a:ext cx="54406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 · EXPLORE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bertanya pada data lewat ringkasan dan grafik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5" name="Image 0" descr="/home/claude/ppt/img/p2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4173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90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1801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variabel: sebaran, pusat, kemencengan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2075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value_counts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0" y="25603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0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2944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variabel: hubungan atau perbedaan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86968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× metode bayar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86800" y="37033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69680" y="3776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kelompok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4087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segmen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4361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groupby(kategori), pivot kota × kategori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686800" y="48463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69680" y="4919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5230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dan pola musiman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5504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harian, rata-rata 7 hari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35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latihan fiktif TokoKita, Agustus–September 2026, setelah dibersihkan (1.495 transaksi).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GRAFIK KE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= temuan + angka + implikasi bisnis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699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Elektronik: sedikit transaksi, omzet terbesar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omzet dari hanya 12% transaksi (median belanja Rp965 rb vs Fashion Rp274 rb)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457200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4645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892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promosi bernilai tinggi: cicilan 0%, garansi, bundling aksesori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9768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6994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94960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 COD memberi rating terendah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7B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3,93</a:t>
            </a:r>
            <a:endParaRPr lang="en-US" sz="40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rating COD, vs 4,17–4,27 metode bayar lain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80560" y="457200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617720" y="4645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617720" y="4892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Selidiki pengalaman COD (keterlambatan, penolakan paket); uji insentif e-wallet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804672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186994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144000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memimpin, Makassar kedua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832104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32104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4000" dirty="0"/>
          </a:p>
        </p:txBody>
      </p:sp>
      <p:sp>
        <p:nvSpPr>
          <p:cNvPr id="31" name="Text 26"/>
          <p:cNvSpPr txBox="1"/>
          <p:nvPr/>
        </p:nvSpPr>
        <p:spPr>
          <a:xfrm>
            <a:off x="832104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omzet dari Jakarta (Rp197 jt); Makassar Rp142 jt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229600" y="457200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366760" y="4645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8366760" y="4892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Makassar layak jadi prioritas kampanye regional Indonesia Timur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negatif juga insight: jumlah transaksi per hari relatif rata (22,9–25,9), tidak ada lonjakan akhir pekan yang jelas.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 · SAVE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log: jejak audit setiap keputusan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237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822960"/>
                <a:gridCol w="10058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Langkah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duplikat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identik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E6C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Konversi harga ke angka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"Rp 149.500" → 149500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Konversi tanggal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dd/mm/yyyy diseragamkan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Seragamkan label kota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→ 5 nilai unik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Seragamkan metode bayar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→ 4 nilai unik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kota &amp; metode bayar 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"Tidak diketahui"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tidak valid → 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luar 1–5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jumlah tidak 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E6C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Koreksi harga salah ketik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5× median, ÷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C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Tandai transaksi grosir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 unit, dipertahankan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7B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mentah ke bersih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38160" y="187452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18745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1.537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509760" y="1874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mentah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52460" y="28346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3534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624060" y="2834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hapus duplikat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21040" y="379476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3794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1.495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48463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DF1D6"/>
          </a:solidFill>
          <a:ln w="12700">
            <a:solidFill>
              <a:srgbClr val="FDF1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48920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2,7% baris yang dihapus. Sisanya diperbaiki atau ditandai, sehingga informasi tidak hilang.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TANPA KODE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yang sama di Excel Power Query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7373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From Text/CSV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file ke Power Query Editor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5848" y="150876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38728" y="169164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3872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73736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38728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Remove Rows → Remove Duplicates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38728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duplikat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63056" y="150876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45936" y="169164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34593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173736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45936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Replace Values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345936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"Rp" dan titik pada harga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70264" y="150876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53144" y="169164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15314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3384" y="173736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153144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Format → Trim, Capitalize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53144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Seragamkan label kota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374904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977640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31520" y="4480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→ Using Locale…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73152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teks tanggal dengan format Indonesia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355848" y="374904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538728" y="393192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538728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3977640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538728" y="4480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kolom jumlah ≥ 1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3538728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Buang nilai tidak valid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163056" y="374904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345936" y="393192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345936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3977640"/>
            <a:ext cx="329184" cy="32918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345936" y="4480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→ Custom Column</a:t>
            </a:r>
            <a:endParaRPr lang="en-US" sz="1300" dirty="0"/>
          </a:p>
        </p:txBody>
      </p:sp>
      <p:sp>
        <p:nvSpPr>
          <p:cNvPr id="46" name="Text 37"/>
          <p:cNvSpPr txBox="1"/>
          <p:nvPr/>
        </p:nvSpPr>
        <p:spPr>
          <a:xfrm>
            <a:off x="6345936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[harga] * [jumlah]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8970264" y="374904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9153144" y="3931920"/>
            <a:ext cx="411480" cy="411480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9153144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3384" y="3977640"/>
            <a:ext cx="329184" cy="32918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153144" y="4480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Load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9153144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masuk ke sheet baru</a:t>
            </a:r>
            <a:endParaRPr lang="en-US" sz="1200" dirty="0"/>
          </a:p>
        </p:txBody>
      </p:sp>
      <p:sp>
        <p:nvSpPr>
          <p:cNvPr id="53" name="Text 43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juga mencatat setiap langkah di panel Applied Steps, mirip cleaning log.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LAB · 170 MENIT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notebook hands-on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5118" cy="5486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605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99478" y="1508760"/>
            <a:ext cx="1255955" cy="548640"/>
          </a:xfrm>
          <a:prstGeom prst="rect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99478" y="1508760"/>
            <a:ext cx="1255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01153" y="1508760"/>
            <a:ext cx="4510144" cy="5486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1153" y="1508760"/>
            <a:ext cx="45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70'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57016" y="1508760"/>
            <a:ext cx="1255955" cy="548640"/>
          </a:xfrm>
          <a:prstGeom prst="rect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7016" y="1508760"/>
            <a:ext cx="1255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58692" y="1508760"/>
            <a:ext cx="2232212" cy="5486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8692" y="1508760"/>
            <a:ext cx="2232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36624" y="1508760"/>
            <a:ext cx="279699" cy="548640"/>
          </a:xfrm>
          <a:prstGeom prst="rect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62042" y="1508760"/>
            <a:ext cx="605118" cy="548640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62042" y="1508760"/>
            <a:ext cx="605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3500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&amp; memuat data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menit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55848" y="2377440"/>
            <a:ext cx="457200" cy="457200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5584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04488" y="23500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data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904488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63056" y="23774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6305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11696" y="23500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Membersihkan data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11696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menit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70264" y="2377440"/>
            <a:ext cx="457200" cy="4572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7026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518904" y="23500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518904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340156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menit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355848" y="3429000"/>
            <a:ext cx="457200" cy="4572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558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904488" y="340156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&amp; cleaning log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3904488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menit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63056" y="3429000"/>
            <a:ext cx="457200" cy="45720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63056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711696" y="340156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Tugas 2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6711696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menit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diunduh dari LMS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48640" y="507492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424221"/>
            <a:ext cx="307238" cy="307238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1508760" y="51937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Pertemuan_2_Data_Wrangling_EDA.ipynb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1508760" y="5687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hands-on + Tugas 2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4297680" y="507492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480560" y="525780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5424221"/>
            <a:ext cx="307238" cy="307238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5257800" y="51937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transaksi_tokokita_kotor.csv</a:t>
            </a:r>
            <a:endParaRPr lang="en-US" sz="1050" dirty="0"/>
          </a:p>
        </p:txBody>
      </p:sp>
      <p:sp>
        <p:nvSpPr>
          <p:cNvPr id="56" name="Text 52"/>
          <p:cNvSpPr txBox="1"/>
          <p:nvPr/>
        </p:nvSpPr>
        <p:spPr>
          <a:xfrm>
            <a:off x="5257800" y="5687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1.537 baris · untuk hands-on</a:t>
            </a:r>
            <a:endParaRPr lang="en-US" sz="1150" dirty="0"/>
          </a:p>
        </p:txBody>
      </p:sp>
      <p:sp>
        <p:nvSpPr>
          <p:cNvPr id="57" name="Shape 53"/>
          <p:cNvSpPr/>
          <p:nvPr/>
        </p:nvSpPr>
        <p:spPr>
          <a:xfrm>
            <a:off x="8046720" y="507492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229600" y="5257800"/>
            <a:ext cx="640080" cy="64008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5424221"/>
            <a:ext cx="307238" cy="307238"/>
          </a:xfrm>
          <a:prstGeom prst="rect">
            <a:avLst/>
          </a:prstGeom>
        </p:spPr>
      </p:pic>
      <p:sp>
        <p:nvSpPr>
          <p:cNvPr id="60" name="Text 55"/>
          <p:cNvSpPr txBox="1"/>
          <p:nvPr/>
        </p:nvSpPr>
        <p:spPr>
          <a:xfrm>
            <a:off x="9006840" y="51937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transaksi_tugas2_kotor.csv</a:t>
            </a:r>
            <a:endParaRPr lang="en-US" sz="1050" dirty="0"/>
          </a:p>
        </p:txBody>
      </p:sp>
      <p:sp>
        <p:nvSpPr>
          <p:cNvPr id="61" name="Text 56"/>
          <p:cNvSpPr txBox="1"/>
          <p:nvPr/>
        </p:nvSpPr>
        <p:spPr>
          <a:xfrm>
            <a:off x="9006840" y="5687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1.230 baris · untuk Tugas 2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2 · INDIVIDU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praktikum pembersihan data transaksi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760720" cy="4663440"/>
          </a:xfrm>
          <a:prstGeom prst="roundRect">
            <a:avLst>
              <a:gd name="adj" fmla="val 235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TUGAS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transaksi_tugas2_kotor.csv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1.230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886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online fiktif, Juli–September 2026. Masalahnya mirip data hands-on, tetapi angkanya berbeda. Ada kolom baru: ongkir.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892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Tenggat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1663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pertemuan 3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606040" y="4892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606040" y="51663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 + PDF (File → Print) di LMS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389120" y="4892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389120" y="51663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nilai akhir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tiap soal</a:t>
            </a:r>
            <a:endParaRPr lang="en-US" sz="16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583680" y="182880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6675120" y="484632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0" y="4919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umum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858000" y="5212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berjalan dari awal sampai akhir · setiap keputusan dijelaskan di sel teks · angka laporan sama dengan output kode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2 · LIMA SOAL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Kerjakan di bagian 6 notebook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72768"/>
            <a:ext cx="566928" cy="566928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4173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 ukuran data, tipe tiap kolom, serta jumlah dan persentase data kosong. Sebutkan kolom yang tipenya salah dan jelaskan mengapa.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0" y="141732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51176"/>
            <a:ext cx="566928" cy="566928"/>
          </a:xfrm>
          <a:prstGeom prst="ellipse">
            <a:avLst/>
          </a:prstGeom>
          <a:solidFill>
            <a:srgbClr val="0B7C87"/>
          </a:solidFill>
          <a:ln w="12700">
            <a:solidFill>
              <a:srgbClr val="0B7C8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3957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&amp; label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39572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duplikat persis, lalu seragamkan kota dan metode_bayar. Laporkan baris yang dihapus serta nilai unik sebelum dan sesudah.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0" y="2395728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29584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37413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 &amp; missing value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374136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harga menjadi angka dan tanggal menjadi tipe tanggal. Tangani data kosong setiap kolom dan jelaskan alasan strategi Anda.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0" y="3374136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35254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tidak valid &amp; outlier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4352544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aturan validasi rating dan jumlah. Deteksi outlier harga dengan IQR per kategori; bedakan kesalahan dan yang nyata, lalu jelaskan tindakan.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0" y="4352544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5330952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486400"/>
            <a:ext cx="566928" cy="566928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486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53309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insight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886200" y="5330952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total = harga × jumlah + ongkir, tiga visualisasi berbeda jenis, tiga insight (temuan + angka + implikasi), dan cleaning log lengkap.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0" y="5330952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B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kita pelajari hari ini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9613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Inspeksi dulu: shape, info, describe, value_counts, dan isna mengungkap hampir semua masalah.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228" y="19613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73736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Bersihkan dengan alasan: duplikat dihapus, format diperbaiki, label diseragamkan, data kosong ditangani sesuai penyebabnya.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33787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15468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belum tentu salah: koreksi kesalahan, pertahankan dan tandai yang nyata.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17920" y="3200400"/>
            <a:ext cx="685800" cy="685800"/>
          </a:xfrm>
          <a:prstGeom prst="ellipse">
            <a:avLst/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337870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86600" y="315468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semuanya: cleaning log membuat analisis dapat diaudit dan diulang.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475488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22305A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68680" y="4983480"/>
            <a:ext cx="731520" cy="731520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75" y="5173675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2880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 · STATISTIKA DESKRIPTIF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828800" y="528523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 data bersih hasil hari ini. Kita akan menghitung mean, median, simpangan baku, dan kuartil. Baca Anderson dkk. bab 3.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 — Data Wrangling &amp; EDA</dc:title>
  <dc:subject>PptxGenJS Presentation</dc:subject>
  <dc:creator>PptxGenJS</dc:creator>
  <cp:lastModifiedBy>PptxGenJS</cp:lastModifiedBy>
  <cp:revision>1</cp:revision>
  <dcterms:created xsi:type="dcterms:W3CDTF">2026-10-05T05:32:52Z</dcterms:created>
  <dcterms:modified xsi:type="dcterms:W3CDTF">2026-10-05T05:32:52Z</dcterms:modified>
</cp:coreProperties>
</file>